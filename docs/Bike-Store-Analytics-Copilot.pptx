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 ExtraBold"/>
      <p:regular r:id="rId201315"/>
    </p:embeddedFont>
    <p:embeddedFont>
      <p:font typeface="Noto Sans Thin"/>
      <p:regular r:id="rId201316"/>
    </p:embeddedFont>
    <p:embeddedFont>
      <p:font typeface="Noto Sans ExtraLight"/>
      <p:regular r:id="rId201317"/>
    </p:embeddedFont>
    <p:embeddedFont>
      <p:font typeface="Noto Sans Light"/>
      <p:regular r:id="rId201318"/>
    </p:embeddedFont>
    <p:embeddedFont>
      <p:font typeface="Noto Sans"/>
      <p:regular r:id="rId201319"/>
    </p:embeddedFont>
    <p:embeddedFont>
      <p:font typeface="Noto Sans Medium"/>
      <p:regular r:id="rId201320"/>
    </p:embeddedFont>
    <p:embeddedFont>
      <p:font typeface="Noto Sans SemiBold"/>
      <p:regular r:id="rId201321"/>
    </p:embeddedFont>
    <p:embeddedFont>
      <p:font typeface="Noto Sans Black"/>
      <p:regular r:id="rId201322"/>
    </p:embeddedFont>
    <p:embeddedFont>
      <p:font typeface="Sora Thin"/>
      <p:regular r:id="rId201323"/>
    </p:embeddedFont>
    <p:embeddedFont>
      <p:font typeface="Sora ExtraLight"/>
      <p:regular r:id="rId201324"/>
    </p:embeddedFont>
    <p:embeddedFont>
      <p:font typeface="Sora Medium"/>
      <p:regular r:id="rId201325"/>
    </p:embeddedFont>
    <p:embeddedFont>
      <p:font typeface="Sora Light"/>
      <p:regular r:id="rId201326"/>
    </p:embeddedFont>
    <p:embeddedFont>
      <p:font typeface="Sora"/>
      <p:regular r:id="rId201327"/>
    </p:embeddedFont>
    <p:embeddedFont>
      <p:font typeface="Sora SemiBold"/>
      <p:regular r:id="rId201328"/>
    </p:embeddedFont>
    <p:embeddedFont>
      <p:font typeface="Sora Bold"/>
      <p:regular r:id="rId201329"/>
    </p:embeddedFont>
    <p:embeddedFont>
      <p:font typeface="Sora ExtraBold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910358"/>
            <a:ext cx="1128387" cy="287139"/>
          </a:xfrm>
          <a:prstGeom prst="roundRect">
            <a:avLst>
              <a:gd name="adj" fmla="val 7899"/>
            </a:avLst>
          </a:prstGeom>
          <a:solidFill>
            <a:srgbClr val="00184D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1967012"/>
            <a:ext cx="15111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 QUAN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27310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Bike Store Analytics Copilot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737868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Hệ thống demo phân tích bán lẻ xe đạp — theo dõi doanh thu, tồn kho, khách hàng và hỏi đáp số liệu bằng tiếng Việt. Biến 9 file CSV thành kho dữ liệu phân tích đáng tin cậy, giúp ra quyết định nhanh hơn với KPI thống nhất.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7191"/>
            <a:ext cx="1122334" cy="287139"/>
          </a:xfrm>
          <a:prstGeom prst="roundRect">
            <a:avLst>
              <a:gd name="adj" fmla="val 7899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03845"/>
            <a:ext cx="150511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 NGHỆ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0993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Kiến Trúc Phân Lớp — Dữ Liệu, API, Giao Diện &amp; AI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74702"/>
            <a:ext cx="378014" cy="378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98896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Layer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3397647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Supabase PostgreSQL với 5 schema: raw, staging, analytics, agent, audit. Python + pandas + SQLAlchemy xử lý ETL và kiểm tra chất lượng.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374702"/>
            <a:ext cx="378014" cy="3780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3915" y="298896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API &amp; UI Layer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213915" y="3397647"/>
            <a:ext cx="53163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FastAPI cung cấp endpoint /copilot/ask và /metrics/*. Next.js/React + TypeScript cho giao diện demo với auth HttpOnly cookie.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682927"/>
            <a:ext cx="378014" cy="3780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529719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AI Agent Layer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661475" y="5705872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Multi-agent tiếng Việt với metric catalog, SQL templates, Graph RAG metadata và SQL guardrails an toàn.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682927"/>
            <a:ext cx="378014" cy="3780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3915" y="529719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Dashboard Nội Bộ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213915" y="5705872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Streamlit + Plotly giúp team data kiểm tra nhanh phân tích và xác thực kết quả trước khi demo khách hàng.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8998"/>
            <a:ext cx="1052982" cy="197743"/>
          </a:xfrm>
          <a:prstGeom prst="roundRect">
            <a:avLst>
              <a:gd name="adj" fmla="val 7904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39558" y="597991"/>
            <a:ext cx="1506401" cy="1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BỔ DỮ LIỆU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92559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Từ Dữ Liệu Thô Đến Mart Nghiệp Vụ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61475" y="1235373"/>
            <a:ext cx="1086874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Quy Trình Chuyển Đổi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73411"/>
            <a:ext cx="2649868" cy="907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894" y="1722636"/>
            <a:ext cx="227522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raw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86894" y="1979910"/>
            <a:ext cx="2275227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Snapshot nguyên bản, đối chiếu số dòng nguồn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1034" y="1573411"/>
            <a:ext cx="2649967" cy="907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26454" y="1722636"/>
            <a:ext cx="227532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staging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626454" y="1979910"/>
            <a:ext cx="2275327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Chuẩn hóa kiểu dữ liệu, ngày tháng, khóa liên kết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0693" y="1573411"/>
            <a:ext cx="2649868" cy="907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66113" y="1722636"/>
            <a:ext cx="227522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366113" y="1979910"/>
            <a:ext cx="2275227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fact_sales, fact_inventory, dimensions và marts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80253" y="1573411"/>
            <a:ext cx="2649967" cy="9077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05672" y="1722636"/>
            <a:ext cx="227532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agent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9105672" y="1979910"/>
            <a:ext cx="2275327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Metric catalog, SQL templates, metadata AI Copilot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2570857"/>
            <a:ext cx="2649868" cy="9077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86894" y="2720082"/>
            <a:ext cx="227522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audit/report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886894" y="2977356"/>
            <a:ext cx="2275227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quả kiểm tra chất lượng —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34/34 checks PASS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661475" y="3613150"/>
            <a:ext cx="1086874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Số Liệu Nổi Bật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468202" y="4016276"/>
            <a:ext cx="3764761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1,615</a:t>
            </a:r>
            <a:endParaRPr lang="en-US" sz="3350" dirty="0"/>
          </a:p>
        </p:txBody>
      </p:sp>
      <p:sp>
        <p:nvSpPr>
          <p:cNvPr id="23" name="Text 16"/>
          <p:cNvSpPr/>
          <p:nvPr/>
        </p:nvSpPr>
        <p:spPr>
          <a:xfrm>
            <a:off x="661475" y="4578449"/>
            <a:ext cx="537831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Đơn hàng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958632" y="4016276"/>
            <a:ext cx="3764761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4,722</a:t>
            </a:r>
            <a:endParaRPr lang="en-US" sz="3350" dirty="0"/>
          </a:p>
        </p:txBody>
      </p:sp>
      <p:sp>
        <p:nvSpPr>
          <p:cNvPr id="25" name="Text 18"/>
          <p:cNvSpPr/>
          <p:nvPr/>
        </p:nvSpPr>
        <p:spPr>
          <a:xfrm>
            <a:off x="6151905" y="4578449"/>
            <a:ext cx="537831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Order items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468202" y="5026521"/>
            <a:ext cx="3764761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1,445</a:t>
            </a:r>
            <a:endParaRPr lang="en-US" sz="3350" dirty="0"/>
          </a:p>
        </p:txBody>
      </p:sp>
      <p:sp>
        <p:nvSpPr>
          <p:cNvPr id="27" name="Text 20"/>
          <p:cNvSpPr/>
          <p:nvPr/>
        </p:nvSpPr>
        <p:spPr>
          <a:xfrm>
            <a:off x="661475" y="5588695"/>
            <a:ext cx="537831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Khách hàng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958632" y="5026521"/>
            <a:ext cx="3764761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7.7M</a:t>
            </a:r>
            <a:endParaRPr lang="en-US" sz="3350" dirty="0"/>
          </a:p>
        </p:txBody>
      </p:sp>
      <p:sp>
        <p:nvSpPr>
          <p:cNvPr id="29" name="Text 22"/>
          <p:cNvSpPr/>
          <p:nvPr/>
        </p:nvSpPr>
        <p:spPr>
          <a:xfrm>
            <a:off x="6151905" y="5588695"/>
            <a:ext cx="537831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Doanh thu ($)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6151905" y="5845969"/>
            <a:ext cx="5378315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Sau chiết khấu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61475" y="6122888"/>
            <a:ext cx="11478330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Nguồn: 9 CSV gồm brands, categories, customers, orders, order_items, products, staffs, stocks, stores.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6566"/>
            <a:ext cx="1147238" cy="215305"/>
          </a:xfrm>
          <a:prstGeom prst="roundRect">
            <a:avLst>
              <a:gd name="adj" fmla="val 7901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669032"/>
            <a:ext cx="158676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BỔ DỮ LIỆU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8433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Sơ Đồ Kiến Trúc Dữ Liệu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86793"/>
            <a:ext cx="8151509" cy="44265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6032897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Luồng dữ liệu từ nguồn CSV qua các tầng raw → staging → analytics → mart, đảm bảo tính nhất quán và kiểm chứng tại mỗi bước.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5198"/>
            <a:ext cx="1147238" cy="215305"/>
          </a:xfrm>
          <a:prstGeom prst="roundRect">
            <a:avLst>
              <a:gd name="adj" fmla="val 7901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677664"/>
            <a:ext cx="158676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BỔ DỮ LIỆU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9296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Schema &amp; Cấu Trúc Mart Nghiệp Vụ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95425"/>
            <a:ext cx="8151509" cy="44092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6024265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Mỗi mart phục vụ một nghiệp vụ cụ thể: Executive, Sales, Product, Inventory, Customer — giúp truy vấn nhanh và báo cáo chính xác.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4669"/>
            <a:ext cx="1552040" cy="287139"/>
          </a:xfrm>
          <a:prstGeom prst="roundRect">
            <a:avLst>
              <a:gd name="adj" fmla="val 7899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581323"/>
            <a:ext cx="193481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MENU TRONG APP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874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Từng Màn Hình Phục Vụ Nghiệp Vụ Bán Lẻ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1761530"/>
            <a:ext cx="5339820" cy="1397893"/>
          </a:xfrm>
          <a:prstGeom prst="roundRect">
            <a:avLst>
              <a:gd name="adj" fmla="val 2028"/>
            </a:avLst>
          </a:prstGeom>
          <a:solidFill>
            <a:srgbClr val="26262B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1950541"/>
            <a:ext cx="496180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Điều Hành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2365573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 quan doanh thu, đơn hàng, khách hàng, giao trễ và cảnh báo vận hành theo thời gian thực.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1761530"/>
            <a:ext cx="5339919" cy="1397893"/>
          </a:xfrm>
          <a:prstGeom prst="roundRect">
            <a:avLst>
              <a:gd name="adj" fmla="val 2028"/>
            </a:avLst>
          </a:prstGeom>
          <a:solidFill>
            <a:srgbClr val="26262B"/>
          </a:solidFill>
          <a:ln/>
        </p:spPr>
      </p:sp>
      <p:sp>
        <p:nvSpPr>
          <p:cNvPr id="9" name="Text 7"/>
          <p:cNvSpPr/>
          <p:nvPr/>
        </p:nvSpPr>
        <p:spPr>
          <a:xfrm>
            <a:off x="6379308" y="1950541"/>
            <a:ext cx="49619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Sales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79308" y="2365573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Doanh thu theo tháng/năm, AOV, số đơn, số lượng bán và tỷ lệ chiết khấu.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3348434"/>
            <a:ext cx="5339820" cy="1397893"/>
          </a:xfrm>
          <a:prstGeom prst="roundRect">
            <a:avLst>
              <a:gd name="adj" fmla="val 2028"/>
            </a:avLst>
          </a:prstGeom>
          <a:solidFill>
            <a:srgbClr val="26262B"/>
          </a:solidFill>
          <a:ln/>
        </p:spPr>
      </p:sp>
      <p:sp>
        <p:nvSpPr>
          <p:cNvPr id="12" name="Text 10"/>
          <p:cNvSpPr/>
          <p:nvPr/>
        </p:nvSpPr>
        <p:spPr>
          <a:xfrm>
            <a:off x="850482" y="3537446"/>
            <a:ext cx="496180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Products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50482" y="3952478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Sản phẩm, thương hiệu, danh mục bán tốt; doanh thu sau chiết khấu và số lượng bán.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0301" y="3348434"/>
            <a:ext cx="5339919" cy="1397893"/>
          </a:xfrm>
          <a:prstGeom prst="roundRect">
            <a:avLst>
              <a:gd name="adj" fmla="val 2028"/>
            </a:avLst>
          </a:prstGeom>
          <a:solidFill>
            <a:srgbClr val="26262B"/>
          </a:solidFill>
          <a:ln/>
        </p:spPr>
      </p:sp>
      <p:sp>
        <p:nvSpPr>
          <p:cNvPr id="15" name="Text 13"/>
          <p:cNvSpPr/>
          <p:nvPr/>
        </p:nvSpPr>
        <p:spPr>
          <a:xfrm>
            <a:off x="6379308" y="3537446"/>
            <a:ext cx="49619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🏪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Inventory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379308" y="3952478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Tồn kho theo cửa hàng/sản phẩm, tốc độ bán 90 ngày, rủi ro hết hàng hoặc tồn dư.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935339"/>
            <a:ext cx="5339820" cy="1397893"/>
          </a:xfrm>
          <a:prstGeom prst="roundRect">
            <a:avLst>
              <a:gd name="adj" fmla="val 2028"/>
            </a:avLst>
          </a:prstGeom>
          <a:solidFill>
            <a:srgbClr val="26262B"/>
          </a:solidFill>
          <a:ln/>
        </p:spPr>
      </p:sp>
      <p:sp>
        <p:nvSpPr>
          <p:cNvPr id="18" name="Text 16"/>
          <p:cNvSpPr/>
          <p:nvPr/>
        </p:nvSpPr>
        <p:spPr>
          <a:xfrm>
            <a:off x="850482" y="5124351"/>
            <a:ext cx="496180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Customers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850482" y="5539383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khúc khách hàng, doanh thu theo bang/thành phố, top khách hàng giá trị cao.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4935339"/>
            <a:ext cx="5339919" cy="1397893"/>
          </a:xfrm>
          <a:prstGeom prst="roundRect">
            <a:avLst>
              <a:gd name="adj" fmla="val 2028"/>
            </a:avLst>
          </a:prstGeom>
          <a:solidFill>
            <a:srgbClr val="26262B"/>
          </a:solidFill>
          <a:ln/>
        </p:spPr>
      </p:sp>
      <p:sp>
        <p:nvSpPr>
          <p:cNvPr id="21" name="Text 19"/>
          <p:cNvSpPr/>
          <p:nvPr/>
        </p:nvSpPr>
        <p:spPr>
          <a:xfrm>
            <a:off x="6379308" y="5124351"/>
            <a:ext cx="49619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🚚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Delivery &amp; Staff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379308" y="5539383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Hiệu suất giao hàng, nhân viên bán hàng và hỏi đáp AI có bằng chứng dữ liệu.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3746"/>
            <a:ext cx="1164700" cy="215305"/>
          </a:xfrm>
          <a:prstGeom prst="roundRect">
            <a:avLst>
              <a:gd name="adj" fmla="val 7901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646212"/>
            <a:ext cx="160422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MENU TRONG APP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6151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Giao Diện Dashboard — Tổng Quan Nghiệp Vụ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63973"/>
            <a:ext cx="8151509" cy="44721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6055717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Giao diện được thiết kế theo cách người vận hành bán lẻ thường đặt câu hỏi — từ tổng quan chiến lược đến chi tiết vận hành hàng ngày.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9642"/>
            <a:ext cx="780931" cy="215305"/>
          </a:xfrm>
          <a:prstGeom prst="roundRect">
            <a:avLst>
              <a:gd name="adj" fmla="val 7901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672108"/>
            <a:ext cx="122045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COPILOT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8741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Trả Lời Có Kiểm Chứng — Không Chỉ Trả Lời Chung Chung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596132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Quy Trình Xử Lý Câu Hỏi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1937147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1475" y="2159000"/>
            <a:ext cx="5261439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267942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Orchestrator đọc câu hỏi tiếng Việt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1475" y="2595662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tích ý định và chọn agent phù hợp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1475" y="3006626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1475" y="3214291"/>
            <a:ext cx="5261439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3337421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Route đến đúng domain agent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1475" y="3665141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Sales, Product, Inventory, Customer, Store, Staff, Data Quality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1475" y="4076105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1475" y="4269680"/>
            <a:ext cx="5261439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4406900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Trả về kết quả đầy đủ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1475" y="4734620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Câu trả lời + SQL + dữ liệu nguồn + metric + cảnh báo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1475" y="5145584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1475" y="5324971"/>
            <a:ext cx="5261439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5476379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SQL Guardrails bảo vệ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1475" y="5804098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Chỉ SELECT, chỉ bảng được duyệt, giới hạn dòng — không tự bịa KPI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5131" y="1596132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Ví Dụ Thực Tế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75131" y="1993702"/>
            <a:ext cx="5261439" cy="659011"/>
          </a:xfrm>
          <a:prstGeom prst="roundRect">
            <a:avLst>
              <a:gd name="adj" fmla="val 3227"/>
            </a:avLst>
          </a:prstGeom>
          <a:solidFill>
            <a:srgbClr val="00288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6812" y="2199184"/>
            <a:ext cx="177200" cy="14168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735693" y="2068215"/>
            <a:ext cx="465919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"Cửa hàng nào có doanh thu cao nhất?"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→ Route sang 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store_agent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sales_agent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75131" y="2715716"/>
            <a:ext cx="587102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quả trả về gồm: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275131" y="3009801"/>
            <a:ext cx="5261439" cy="114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Câu trả lời trực tiếp bằng tiếng Việt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 đã thực thi (có thể kiểm tra)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Dòng dữ liệu nguồn cụ thể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Metric liên quan và bảng nguồn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Cảnh báo nếu câu hỏi ngoài phạm vi an toàn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8169"/>
            <a:ext cx="832821" cy="229691"/>
          </a:xfrm>
          <a:prstGeom prst="roundRect">
            <a:avLst>
              <a:gd name="adj" fmla="val 7900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633512"/>
            <a:ext cx="126103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COPILOT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6618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Copilot — Giao Diện Hỏi Đáp Tiếng Việt</a:t>
            </a:r>
            <a:endParaRPr lang="en-US" sz="2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20031"/>
            <a:ext cx="8694917" cy="43960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6052145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Người dùng đặt câu hỏi tự nhiên bằng tiếng Việt, hệ thống trả về câu trả lời kèm SQL, chỉ số và bảng nguồn — đảm bảo tính minh bạch và kiểm chứng.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1145"/>
            <a:ext cx="728446" cy="201116"/>
          </a:xfrm>
          <a:prstGeom prst="roundRect">
            <a:avLst>
              <a:gd name="adj" fmla="val 7895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630833"/>
            <a:ext cx="1179285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COPILOT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2927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Kết Quả Truy Vấn — Minh Bạch &amp; Đáng Tin Cậy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81621"/>
            <a:ext cx="7608102" cy="38879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475" y="5373787"/>
            <a:ext cx="10868745" cy="893068"/>
          </a:xfrm>
          <a:prstGeom prst="roundRect">
            <a:avLst>
              <a:gd name="adj" fmla="val 2222"/>
            </a:avLst>
          </a:prstGeom>
          <a:solidFill>
            <a:srgbClr val="26262B"/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5373787"/>
            <a:ext cx="3622882" cy="893068"/>
          </a:xfrm>
          <a:prstGeom prst="rect">
            <a:avLst/>
          </a:prstGeom>
          <a:solidFill>
            <a:srgbClr val="26262B"/>
          </a:solidFill>
          <a:ln/>
        </p:spPr>
      </p:sp>
      <p:sp>
        <p:nvSpPr>
          <p:cNvPr id="8" name="Text 5"/>
          <p:cNvSpPr/>
          <p:nvPr/>
        </p:nvSpPr>
        <p:spPr>
          <a:xfrm>
            <a:off x="793730" y="5506045"/>
            <a:ext cx="3358371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Dữ Liệu Chuẩn Hóa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3730" y="5774630"/>
            <a:ext cx="335837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34/34 kiểm tra chất lượng đạt — số liệu có thể kiểm chứng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84357" y="5373787"/>
            <a:ext cx="3622882" cy="893068"/>
          </a:xfrm>
          <a:prstGeom prst="rect">
            <a:avLst/>
          </a:prstGeom>
          <a:solidFill>
            <a:srgbClr val="26262B"/>
          </a:solidFill>
          <a:ln/>
        </p:spPr>
      </p:sp>
      <p:sp>
        <p:nvSpPr>
          <p:cNvPr id="11" name="Shape 8"/>
          <p:cNvSpPr/>
          <p:nvPr/>
        </p:nvSpPr>
        <p:spPr>
          <a:xfrm>
            <a:off x="4284357" y="5373787"/>
            <a:ext cx="19050" cy="893068"/>
          </a:xfrm>
          <a:prstGeom prst="roundRect">
            <a:avLst>
              <a:gd name="adj" fmla="val 104183"/>
            </a:avLst>
          </a:prstGeom>
          <a:solidFill>
            <a:srgbClr val="3F3F44"/>
          </a:solidFill>
          <a:ln/>
        </p:spPr>
      </p:sp>
      <p:sp>
        <p:nvSpPr>
          <p:cNvPr id="12" name="Text 9"/>
          <p:cNvSpPr/>
          <p:nvPr/>
        </p:nvSpPr>
        <p:spPr>
          <a:xfrm>
            <a:off x="4416612" y="5506045"/>
            <a:ext cx="3358371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SQL Minh Bạch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16612" y="5774630"/>
            <a:ext cx="335837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Mỗi câu trả lời kèm SQL đã chạy, không ẩn logic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07239" y="5373787"/>
            <a:ext cx="3622882" cy="893068"/>
          </a:xfrm>
          <a:prstGeom prst="rect">
            <a:avLst/>
          </a:prstGeom>
          <a:solidFill>
            <a:srgbClr val="26262B"/>
          </a:solidFill>
          <a:ln/>
        </p:spPr>
      </p:sp>
      <p:sp>
        <p:nvSpPr>
          <p:cNvPr id="15" name="Shape 12"/>
          <p:cNvSpPr/>
          <p:nvPr/>
        </p:nvSpPr>
        <p:spPr>
          <a:xfrm>
            <a:off x="7907239" y="5373787"/>
            <a:ext cx="19050" cy="893068"/>
          </a:xfrm>
          <a:prstGeom prst="roundRect">
            <a:avLst>
              <a:gd name="adj" fmla="val 104183"/>
            </a:avLst>
          </a:prstGeom>
          <a:solidFill>
            <a:srgbClr val="3F3F44"/>
          </a:solidFill>
          <a:ln/>
        </p:spPr>
      </p:sp>
      <p:sp>
        <p:nvSpPr>
          <p:cNvPr id="16" name="Text 13"/>
          <p:cNvSpPr/>
          <p:nvPr/>
        </p:nvSpPr>
        <p:spPr>
          <a:xfrm>
            <a:off x="8039494" y="5506045"/>
            <a:ext cx="3358371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Tiếng Việt Tự Nhiên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39494" y="5774630"/>
            <a:ext cx="335837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Hỏi như nói chuyện, nhận kết quả phân tích chuyên nghiệp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2026-07-21T15:12:20Z</dcterms:created>
  <dcterms:modified xsi:type="dcterms:W3CDTF">2026-07-21T15:12:20Z</dcterms:modified>
</cp:coreProperties>
</file>
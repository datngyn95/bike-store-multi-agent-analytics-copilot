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1999" cy="6858000" type="screen16x9"/>
  <p:notesSz cx="6858000" cy="9144000"/>
  <p:defaultTextStyle>
    <a:defPPr>
      <a:defRPr lang="vi-V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/>
      </a:lvl1pPr>
    </p:titleStyle>
    <p:bodyStyle>
      <a:lvl1pPr algn="l">
        <a:defRPr sz="1800"/>
      </a:lvl1pPr>
    </p:bodyStyle>
    <p:otherStyle>
      <a:lvl1pPr algn="l">
        <a:defRPr sz="16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stri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8961120" y="731520"/>
            <a:ext cx="2560320" cy="539496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94360" y="56692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ptos"/>
                <a:cs typeface="Aptos"/>
              </a:defRPr>
            </a:pPr>
            <a:r>
              <a:rPr lang="vi-VN" sz="1300" b="1">
                <a:solidFill>
                  <a:srgbClr val="38BDF8"/>
                </a:solidFill>
                <a:latin typeface="Aptos"/>
                <a:cs typeface="Aptos"/>
              </a:rPr>
              <a:t>DEMO KHÁCH HÀNG</a:t>
            </a:r>
            <a:endParaRPr lang="vi-VN" sz="1300"/>
          </a:p>
        </p:txBody>
      </p:sp>
      <p:sp>
        <p:nvSpPr>
          <p:cNvPr id="5" name="Title"/>
          <p:cNvSpPr txBox="1"/>
          <p:nvPr/>
        </p:nvSpPr>
        <p:spPr>
          <a:xfrm>
            <a:off x="594360" y="1097280"/>
            <a:ext cx="7955279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4100" b="1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4100" b="1">
                <a:solidFill>
                  <a:srgbClr val="FFFFFF"/>
                </a:solidFill>
                <a:latin typeface="Aptos"/>
                <a:cs typeface="Aptos"/>
              </a:rPr>
              <a:t>Bike Store Analytics Copilot</a:t>
            </a:r>
            <a:endParaRPr lang="vi-VN" sz="4100"/>
          </a:p>
        </p:txBody>
      </p:sp>
      <p:sp>
        <p:nvSpPr>
          <p:cNvPr id="6" name="Subtitle"/>
          <p:cNvSpPr txBox="1"/>
          <p:nvPr/>
        </p:nvSpPr>
        <p:spPr>
          <a:xfrm>
            <a:off x="640080" y="2697480"/>
            <a:ext cx="70408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050">
                <a:solidFill>
                  <a:srgbClr val="D9F99D"/>
                </a:solidFill>
                <a:latin typeface="Aptos"/>
                <a:cs typeface="Aptos"/>
              </a:defRPr>
            </a:pPr>
            <a:r>
              <a:rPr lang="vi-VN" sz="2050">
                <a:solidFill>
                  <a:srgbClr val="D9F99D"/>
                </a:solidFill>
                <a:latin typeface="Aptos"/>
                <a:cs typeface="Aptos"/>
              </a:rPr>
              <a:t>Từ dữ liệu bán lẻ đến quyết định vận hành có bằng chứng</a:t>
            </a:r>
            <a:endParaRPr lang="vi-VN" sz="2050"/>
          </a:p>
        </p:txBody>
      </p:sp>
      <p:sp>
        <p:nvSpPr>
          <p:cNvPr id="7" name="Bullets"/>
          <p:cNvSpPr txBox="1"/>
          <p:nvPr/>
        </p:nvSpPr>
        <p:spPr>
          <a:xfrm>
            <a:off x="658368" y="3703320"/>
            <a:ext cx="7406640" cy="1691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700">
                <a:solidFill>
                  <a:srgbClr val="E2E8F0"/>
                </a:solidFill>
                <a:latin typeface="Aptos"/>
                <a:cs typeface="Aptos"/>
              </a:defRPr>
            </a:pPr>
            <a:r>
              <a:rPr lang="vi-VN" sz="1700">
                <a:solidFill>
                  <a:srgbClr val="E2E8F0"/>
                </a:solidFill>
                <a:latin typeface="Aptos"/>
                <a:cs typeface="Aptos"/>
              </a:rPr>
              <a:t>• Cloud analytics warehouse trên Supabase PostgreSQL.</a:t>
            </a:r>
            <a:endParaRPr lang="vi-VN" sz="1700"/>
          </a:p>
          <a:p>
            <a:pPr algn="l">
              <a:defRPr sz="1700">
                <a:solidFill>
                  <a:srgbClr val="E2E8F0"/>
                </a:solidFill>
                <a:latin typeface="Aptos"/>
                <a:cs typeface="Aptos"/>
              </a:defRPr>
            </a:pPr>
            <a:r>
              <a:rPr lang="vi-VN" sz="1700">
                <a:solidFill>
                  <a:srgbClr val="E2E8F0"/>
                </a:solidFill>
                <a:latin typeface="Aptos"/>
                <a:cs typeface="Aptos"/>
              </a:rPr>
              <a:t>• Dashboard nghiệp vụ cho Executive, Sales, Product, Inventory, Customer, Store, Staff.</a:t>
            </a:r>
            <a:endParaRPr lang="vi-VN" sz="1700"/>
          </a:p>
          <a:p>
            <a:pPr algn="l">
              <a:defRPr sz="1700">
                <a:solidFill>
                  <a:srgbClr val="E2E8F0"/>
                </a:solidFill>
                <a:latin typeface="Aptos"/>
                <a:cs typeface="Aptos"/>
              </a:defRPr>
            </a:pPr>
            <a:r>
              <a:rPr lang="vi-VN" sz="1700">
                <a:solidFill>
                  <a:srgbClr val="E2E8F0"/>
                </a:solidFill>
                <a:latin typeface="Aptos"/>
                <a:cs typeface="Aptos"/>
              </a:rPr>
              <a:t>• Copilot tiếng Việt trả lời bằng SQL, metric source và evidence.</a:t>
            </a:r>
            <a:endParaRPr lang="vi-VN" sz="1700"/>
          </a:p>
        </p:txBody>
      </p:sp>
      <p:sp>
        <p:nvSpPr>
          <p:cNvPr id="8" name="Title callout 1"/>
          <p:cNvSpPr txBox="1"/>
          <p:nvPr/>
        </p:nvSpPr>
        <p:spPr>
          <a:xfrm>
            <a:off x="8321040" y="1170432"/>
            <a:ext cx="3337560" cy="93268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>
                <a:solidFill>
                  <a:srgbClr val="FFFFFF"/>
                </a:solidFill>
                <a:latin typeface="Aptos"/>
                <a:cs typeface="Aptos"/>
              </a:rPr>
              <a:t>Business</a:t>
            </a:r>
            <a:endParaRPr lang="vi-VN" sz="1500"/>
          </a:p>
          <a:p>
            <a:pPr algn="l"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>
                <a:solidFill>
                  <a:srgbClr val="FFFFFF"/>
                </a:solidFill>
                <a:latin typeface="Aptos"/>
                <a:cs typeface="Aptos"/>
              </a:rPr>
              <a:t>KPI thống nhất cho đội vận hành</a:t>
            </a:r>
            <a:endParaRPr lang="vi-VN" sz="1500"/>
          </a:p>
        </p:txBody>
      </p:sp>
      <p:sp>
        <p:nvSpPr>
          <p:cNvPr id="9" name="Title callout 2"/>
          <p:cNvSpPr txBox="1"/>
          <p:nvPr/>
        </p:nvSpPr>
        <p:spPr>
          <a:xfrm>
            <a:off x="8321040" y="2496312"/>
            <a:ext cx="3337560" cy="93268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>
                <a:solidFill>
                  <a:srgbClr val="FFFFFF"/>
                </a:solidFill>
                <a:latin typeface="Aptos"/>
                <a:cs typeface="Aptos"/>
              </a:rPr>
              <a:t>Tech</a:t>
            </a:r>
            <a:endParaRPr lang="vi-VN" sz="1500"/>
          </a:p>
          <a:p>
            <a:pPr algn="l"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>
                <a:solidFill>
                  <a:srgbClr val="FFFFFF"/>
                </a:solidFill>
                <a:latin typeface="Aptos"/>
                <a:cs typeface="Aptos"/>
              </a:rPr>
              <a:t>FastAPI + Next.js + Multi-Agent AI</a:t>
            </a:r>
            <a:endParaRPr lang="vi-VN" sz="1500"/>
          </a:p>
        </p:txBody>
      </p:sp>
      <p:sp>
        <p:nvSpPr>
          <p:cNvPr id="10" name="Title callout 3"/>
          <p:cNvSpPr txBox="1"/>
          <p:nvPr/>
        </p:nvSpPr>
        <p:spPr>
          <a:xfrm>
            <a:off x="8321040" y="3822191"/>
            <a:ext cx="3337560" cy="93268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>
                <a:solidFill>
                  <a:srgbClr val="FFFFFF"/>
                </a:solidFill>
                <a:latin typeface="Aptos"/>
                <a:cs typeface="Aptos"/>
              </a:rPr>
              <a:t>Trust</a:t>
            </a:r>
            <a:endParaRPr lang="vi-VN" sz="1500"/>
          </a:p>
          <a:p>
            <a:pPr algn="l"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>
                <a:solidFill>
                  <a:srgbClr val="FFFFFF"/>
                </a:solidFill>
                <a:latin typeface="Aptos"/>
                <a:cs typeface="Aptos"/>
              </a:rPr>
              <a:t>34/34 data quality checks passed</a:t>
            </a:r>
            <a:endParaRPr lang="vi-VN" sz="1500"/>
          </a:p>
        </p:txBody>
      </p:sp>
      <p:sp>
        <p:nvSpPr>
          <p:cNvPr id="11" name="Footer"/>
          <p:cNvSpPr txBox="1"/>
          <p:nvPr/>
        </p:nvSpPr>
        <p:spPr>
          <a:xfrm>
            <a:off x="621792" y="6272784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vi-VN" sz="950">
                <a:solidFill>
                  <a:srgbClr val="94A3B8"/>
                </a:solidFill>
                <a:latin typeface="Aptos"/>
                <a:cs typeface="Aptos"/>
              </a:rPr>
              <a:t>Bike Store Multi-Agent Analytics Copilot</a:t>
            </a:r>
            <a:endParaRPr lang="vi-VN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BÀI TOÁN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Khách hàng cần ra quyết định nhanh từ dữ liệu bán lẻ</a:t>
            </a:r>
            <a:endParaRPr lang="vi-VN" sz="2600"/>
          </a:p>
        </p:txBody>
      </p:sp>
      <p:sp>
        <p:nvSpPr>
          <p:cNvPr id="5" name="Subtitle"/>
          <p:cNvSpPr txBox="1"/>
          <p:nvPr/>
        </p:nvSpPr>
        <p:spPr>
          <a:xfrm>
            <a:off x="576072" y="129844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450">
                <a:solidFill>
                  <a:srgbClr val="475569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475569"/>
                </a:solidFill>
                <a:latin typeface="Aptos"/>
                <a:cs typeface="Aptos"/>
              </a:rPr>
              <a:t>Raw CSV hoặc báo cáo rời rạc chưa đủ để điều hành doanh thu, tồn kho và cửa hàng.</a:t>
            </a:r>
            <a:endParaRPr lang="vi-VN" sz="1450"/>
          </a:p>
        </p:txBody>
      </p:sp>
      <p:sp>
        <p:nvSpPr>
          <p:cNvPr id="6" name="Bullets"/>
          <p:cNvSpPr txBox="1"/>
          <p:nvPr/>
        </p:nvSpPr>
        <p:spPr>
          <a:xfrm>
            <a:off x="640080" y="1874519"/>
            <a:ext cx="681228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Dữ liệu giao dịch, sản phẩm, khách hàng và tồn kho nằm rời nhau.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Mỗi team dễ có một cách tính KPI khác nhau: revenue, AOV, discount, stockout.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Business users cần hỏi tiếp ngay trong cuộc họp, không chờ analyst viết query thủ công.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Chatbot thông thường rủi ro vì có thể trả lời không kèm nguồn dữ liệu hoặc công thức.</a:t>
            </a:r>
            <a:endParaRPr lang="vi-VN" sz="1680"/>
          </a:p>
        </p:txBody>
      </p:sp>
      <p:sp>
        <p:nvSpPr>
          <p:cNvPr id="7" name="Callout Pain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Pain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Chậm, rời rạc, khó kiểm chứng</a:t>
            </a:r>
            <a:endParaRPr lang="vi-VN" sz="1450"/>
          </a:p>
        </p:txBody>
      </p:sp>
      <p:sp>
        <p:nvSpPr>
          <p:cNvPr id="8" name="Callout Goal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Goal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Insight nhanh + có bằng chứng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2</a:t>
            </a:r>
            <a:endParaRPr lang="vi-VN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GIÁ TRỊ NGHIỆP VỤ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Một màn hình cho điều hành, nhiều góc nhìn cho vận hành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Executive overview: doanh thu, đơn hàng, khách hàng, giao trễ, nguồn mart rõ ràng.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Sales: trend theo tháng/năm, AOV, discount rate và so sánh store.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Product: top product, category, brand, units sold và revenue sau chiết khấu.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Inventory: phát hiện stockout, stockout risk, overstock risk theo store-product.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Customer: phân khúc, state/city, top customers và revenue per customer.</a:t>
            </a:r>
            <a:endParaRPr lang="vi-VN" sz="1680"/>
          </a:p>
        </p:txBody>
      </p:sp>
      <p:sp>
        <p:nvSpPr>
          <p:cNvPr id="6" name="Callout Dashboard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Dashboard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Câu hỏi định kỳ</a:t>
            </a:r>
            <a:endParaRPr lang="vi-VN" sz="1450"/>
          </a:p>
        </p:txBody>
      </p:sp>
      <p:sp>
        <p:nvSpPr>
          <p:cNvPr id="7" name="Callout Copilot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Copilot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Câu hỏi phát sinh</a:t>
            </a:r>
            <a:endParaRPr lang="vi-VN" sz="1450"/>
          </a:p>
        </p:txBody>
      </p:sp>
      <p:sp>
        <p:nvSpPr>
          <p:cNvPr id="8" name="Callout Evidence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Evidence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SQL + metric + source table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3</a:t>
            </a:r>
            <a:endParaRPr lang="vi-VN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DỮ LIỆU ĐÃ KIỂM CHỨNG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Baseline KPI dùng được để demo và đối chiếu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9 CSV không header được snapshot vào raw/ và map schema rõ ràng.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1,615 orders; 4,722 order items; 1,445 customers; 321 products; 3 stores.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Revenue sau chiết khấu: 7,689,116.56.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Top store theo revenue: Baldwin Bikes.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Late shipment rate khoảng 31.7%; data quality: 34/34 checks passed.</a:t>
            </a:r>
            <a:endParaRPr lang="vi-VN" sz="1680"/>
          </a:p>
        </p:txBody>
      </p:sp>
      <p:sp>
        <p:nvSpPr>
          <p:cNvPr id="6" name="Callout Revenue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Revenue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7.69M</a:t>
            </a:r>
            <a:endParaRPr lang="vi-VN" sz="1450"/>
          </a:p>
        </p:txBody>
      </p:sp>
      <p:sp>
        <p:nvSpPr>
          <p:cNvPr id="7" name="Callout Orders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Orders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1,615</a:t>
            </a:r>
            <a:endParaRPr lang="vi-VN" sz="1450"/>
          </a:p>
        </p:txBody>
      </p:sp>
      <p:sp>
        <p:nvSpPr>
          <p:cNvPr id="8" name="Callout DQ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DQ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34/34 PASS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4</a:t>
            </a:r>
            <a:endParaRPr lang="vi-VN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MIỀN NGHIỆP VỤ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Bao phủ các câu hỏi vận hành chính của Bike Store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Executive: sức khỏe tổng thể và cảnh báo vận hành.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Sales: revenue, orders, units sold, AOV, growth, discount.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Product: product/category/brand performance, model year, selling price.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Inventory: stock quantity, sales velocity, days of supply, stockout/overstock.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Store, Staff, Delivery: hiệu suất cửa hàng, nhân viên và giao hàng.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Data Quality: null, duplicate, foreign key, date, numeric và regression checks.</a:t>
            </a:r>
            <a:endParaRPr lang="vi-VN" sz="1680"/>
          </a:p>
        </p:txBody>
      </p:sp>
      <p:sp>
        <p:nvSpPr>
          <p:cNvPr id="6" name="Callout Sales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Sales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Doanh thu và xu hướng</a:t>
            </a:r>
            <a:endParaRPr lang="vi-VN" sz="1450"/>
          </a:p>
        </p:txBody>
      </p:sp>
      <p:sp>
        <p:nvSpPr>
          <p:cNvPr id="7" name="Callout Inventory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Inventory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Rủi ro tồn kho</a:t>
            </a:r>
            <a:endParaRPr lang="vi-VN" sz="1450"/>
          </a:p>
        </p:txBody>
      </p:sp>
      <p:sp>
        <p:nvSpPr>
          <p:cNvPr id="8" name="Callout Customer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Customer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Phân khúc và địa lý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5</a:t>
            </a:r>
            <a:endParaRPr lang="vi-VN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DEMO FLOW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Kịch bản demo trong 8-10 phút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1. Login demo và mở Executive Overview.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2. Show revenue 7,689,116.56, orders 1,615 và source analytics.mart_executive_summary.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3. Vào Sales, filter năm 2017 để xem monthly trend, AOV và discount rate.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4. Vào Products/Inventory để nối hiệu suất bán với rủi ro tồn kho.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5. Vào Customers để lọc state như NY và xem segment distribution.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6. Hỏi Copilot: "Cửa hàng nào có doanh thu cao nhất?" rồi show evidence.</a:t>
            </a:r>
            <a:endParaRPr lang="vi-VN" sz="1680"/>
          </a:p>
        </p:txBody>
      </p:sp>
      <p:sp>
        <p:nvSpPr>
          <p:cNvPr id="6" name="Callout Start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Start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Executive Overview</a:t>
            </a:r>
            <a:endParaRPr lang="vi-VN" sz="1450"/>
          </a:p>
        </p:txBody>
      </p:sp>
      <p:sp>
        <p:nvSpPr>
          <p:cNvPr id="7" name="Callout Explore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Explore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Sales -&gt; Product -&gt; Inventory</a:t>
            </a:r>
            <a:endParaRPr lang="vi-VN" sz="1450"/>
          </a:p>
        </p:txBody>
      </p:sp>
      <p:sp>
        <p:nvSpPr>
          <p:cNvPr id="8" name="Callout Close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Close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Copilot evidence block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6</a:t>
            </a:r>
            <a:endParaRPr lang="vi-VN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AI COPILOT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Copilot không chỉ là chat: mỗi câu trả lời có nguồn kiểm chứng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Orchestrator phân loại intent tiếng Việt và chọn domain agent phù hợp.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Domain agents: Sales, Customer, Product, Inventory, Store, Staff, Data Quality.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Response trả về answer, agents, SQL, rows, metrics, tables, warnings và latency.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Graph RAG/metadata liên kết metric catalog, SQL templates và question examples.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Khi câu hỏi chưa có template an toàn, hệ thống cảnh báo thay vì bịa số.</a:t>
            </a:r>
            <a:endParaRPr lang="vi-VN" sz="1680"/>
          </a:p>
        </p:txBody>
      </p:sp>
      <p:sp>
        <p:nvSpPr>
          <p:cNvPr id="6" name="Callout Question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Question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Cửa hàng nào có doanh thu cao nhất?</a:t>
            </a:r>
            <a:endParaRPr lang="vi-VN" sz="1450"/>
          </a:p>
        </p:txBody>
      </p:sp>
      <p:sp>
        <p:nvSpPr>
          <p:cNvPr id="7" name="Callout Route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Route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store_agent + sales_agent</a:t>
            </a:r>
            <a:endParaRPr lang="vi-VN" sz="1450"/>
          </a:p>
        </p:txBody>
      </p:sp>
      <p:sp>
        <p:nvSpPr>
          <p:cNvPr id="8" name="Callout Evidence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Evidence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SQL + source rows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7</a:t>
            </a:r>
            <a:endParaRPr lang="vi-VN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KIẾN TRÚC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End-to-end architecture</a:t>
            </a:r>
            <a:endParaRPr lang="vi-VN" sz="2600"/>
          </a:p>
        </p:txBody>
      </p:sp>
      <p:sp>
        <p:nvSpPr>
          <p:cNvPr id="5" name="Subtitle"/>
          <p:cNvSpPr txBox="1"/>
          <p:nvPr/>
        </p:nvSpPr>
        <p:spPr>
          <a:xfrm>
            <a:off x="576072" y="129844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450">
                <a:solidFill>
                  <a:srgbClr val="475569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475569"/>
                </a:solidFill>
                <a:latin typeface="Aptos"/>
                <a:cs typeface="Aptos"/>
              </a:rPr>
              <a:t>Từ CSV snapshot đến warehouse, API, dashboard và copilot.</a:t>
            </a:r>
            <a:endParaRPr lang="vi-VN" sz="1450"/>
          </a:p>
        </p:txBody>
      </p:sp>
      <p:sp>
        <p:nvSpPr>
          <p:cNvPr id="6" name="Flow 1"/>
          <p:cNvSpPr txBox="1"/>
          <p:nvPr/>
        </p:nvSpPr>
        <p:spPr>
          <a:xfrm>
            <a:off x="640080" y="1920240"/>
            <a:ext cx="2212848" cy="9875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CSV snapshot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9 source files</a:t>
            </a:r>
            <a:endParaRPr lang="vi-VN" sz="1350"/>
          </a:p>
        </p:txBody>
      </p:sp>
      <p:sp>
        <p:nvSpPr>
          <p:cNvPr id="7" name="Arrow 1"/>
          <p:cNvSpPr txBox="1"/>
          <p:nvPr/>
        </p:nvSpPr>
        <p:spPr>
          <a:xfrm>
            <a:off x="2871215" y="2231136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c">
              <a:defRPr sz="1500" b="1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64748B"/>
                </a:solidFill>
                <a:latin typeface="Aptos"/>
                <a:cs typeface="Aptos"/>
              </a:rPr>
              <a:t>-&gt;</a:t>
            </a:r>
            <a:endParaRPr lang="vi-VN" sz="1500"/>
          </a:p>
        </p:txBody>
      </p:sp>
      <p:sp>
        <p:nvSpPr>
          <p:cNvPr id="8" name="Flow 2"/>
          <p:cNvSpPr txBox="1"/>
          <p:nvPr/>
        </p:nvSpPr>
        <p:spPr>
          <a:xfrm>
            <a:off x="3520440" y="1920240"/>
            <a:ext cx="2212848" cy="98755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ETL + DQ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load, clean, validate</a:t>
            </a:r>
            <a:endParaRPr lang="vi-VN" sz="1350"/>
          </a:p>
        </p:txBody>
      </p:sp>
      <p:sp>
        <p:nvSpPr>
          <p:cNvPr id="9" name="Arrow 2"/>
          <p:cNvSpPr txBox="1"/>
          <p:nvPr/>
        </p:nvSpPr>
        <p:spPr>
          <a:xfrm>
            <a:off x="5751576" y="2231136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c">
              <a:defRPr sz="1500" b="1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64748B"/>
                </a:solidFill>
                <a:latin typeface="Aptos"/>
                <a:cs typeface="Aptos"/>
              </a:rPr>
              <a:t>-&gt;</a:t>
            </a:r>
            <a:endParaRPr lang="vi-VN" sz="1500"/>
          </a:p>
        </p:txBody>
      </p:sp>
      <p:sp>
        <p:nvSpPr>
          <p:cNvPr id="10" name="Flow 3"/>
          <p:cNvSpPr txBox="1"/>
          <p:nvPr/>
        </p:nvSpPr>
        <p:spPr>
          <a:xfrm>
            <a:off x="6400800" y="1920240"/>
            <a:ext cx="2212848" cy="9875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Supabase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raw/staging/analytics</a:t>
            </a:r>
            <a:endParaRPr lang="vi-VN" sz="1350"/>
          </a:p>
        </p:txBody>
      </p:sp>
      <p:sp>
        <p:nvSpPr>
          <p:cNvPr id="11" name="Arrow 3"/>
          <p:cNvSpPr txBox="1"/>
          <p:nvPr/>
        </p:nvSpPr>
        <p:spPr>
          <a:xfrm>
            <a:off x="8631936" y="2231136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c">
              <a:defRPr sz="1500" b="1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64748B"/>
                </a:solidFill>
                <a:latin typeface="Aptos"/>
                <a:cs typeface="Aptos"/>
              </a:rPr>
              <a:t>-&gt;</a:t>
            </a:r>
            <a:endParaRPr lang="vi-VN" sz="1500"/>
          </a:p>
        </p:txBody>
      </p:sp>
      <p:sp>
        <p:nvSpPr>
          <p:cNvPr id="12" name="Flow 4"/>
          <p:cNvSpPr txBox="1"/>
          <p:nvPr/>
        </p:nvSpPr>
        <p:spPr>
          <a:xfrm>
            <a:off x="9281160" y="1920240"/>
            <a:ext cx="2212848" cy="98755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Analytics marts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curated KPI views</a:t>
            </a:r>
            <a:endParaRPr lang="vi-VN" sz="1350"/>
          </a:p>
        </p:txBody>
      </p:sp>
      <p:sp>
        <p:nvSpPr>
          <p:cNvPr id="13" name="Flow 5"/>
          <p:cNvSpPr txBox="1"/>
          <p:nvPr/>
        </p:nvSpPr>
        <p:spPr>
          <a:xfrm>
            <a:off x="640080" y="4160520"/>
            <a:ext cx="2212848" cy="9875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FastAPI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metrics + copilot</a:t>
            </a:r>
            <a:endParaRPr lang="vi-VN" sz="1350"/>
          </a:p>
        </p:txBody>
      </p:sp>
      <p:sp>
        <p:nvSpPr>
          <p:cNvPr id="14" name="Arrow 5"/>
          <p:cNvSpPr txBox="1"/>
          <p:nvPr/>
        </p:nvSpPr>
        <p:spPr>
          <a:xfrm>
            <a:off x="2871215" y="4471416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c">
              <a:defRPr sz="1500" b="1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64748B"/>
                </a:solidFill>
                <a:latin typeface="Aptos"/>
                <a:cs typeface="Aptos"/>
              </a:rPr>
              <a:t>-&gt;</a:t>
            </a:r>
            <a:endParaRPr lang="vi-VN" sz="1500"/>
          </a:p>
        </p:txBody>
      </p:sp>
      <p:sp>
        <p:nvSpPr>
          <p:cNvPr id="15" name="Flow 6"/>
          <p:cNvSpPr txBox="1"/>
          <p:nvPr/>
        </p:nvSpPr>
        <p:spPr>
          <a:xfrm>
            <a:off x="3520440" y="4160520"/>
            <a:ext cx="2212848" cy="98755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Dashboards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Next.js + Streamlit</a:t>
            </a:r>
            <a:endParaRPr lang="vi-VN" sz="1350"/>
          </a:p>
        </p:txBody>
      </p:sp>
      <p:sp>
        <p:nvSpPr>
          <p:cNvPr id="16" name="Arrow 6"/>
          <p:cNvSpPr txBox="1"/>
          <p:nvPr/>
        </p:nvSpPr>
        <p:spPr>
          <a:xfrm>
            <a:off x="5751576" y="4471416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c">
              <a:defRPr sz="1500" b="1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64748B"/>
                </a:solidFill>
                <a:latin typeface="Aptos"/>
                <a:cs typeface="Aptos"/>
              </a:rPr>
              <a:t>-&gt;</a:t>
            </a:r>
            <a:endParaRPr lang="vi-VN" sz="1500"/>
          </a:p>
        </p:txBody>
      </p:sp>
      <p:sp>
        <p:nvSpPr>
          <p:cNvPr id="17" name="Flow 7"/>
          <p:cNvSpPr txBox="1"/>
          <p:nvPr/>
        </p:nvSpPr>
        <p:spPr>
          <a:xfrm>
            <a:off x="6400800" y="4160520"/>
            <a:ext cx="2212848" cy="9875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Multi-agent AI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SQL + evidence</a:t>
            </a:r>
            <a:endParaRPr lang="vi-VN" sz="1350"/>
          </a:p>
        </p:txBody>
      </p:sp>
      <p:sp>
        <p:nvSpPr>
          <p:cNvPr id="18" name="Arrow 7"/>
          <p:cNvSpPr txBox="1"/>
          <p:nvPr/>
        </p:nvSpPr>
        <p:spPr>
          <a:xfrm>
            <a:off x="8631936" y="4471416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c">
              <a:defRPr sz="1500" b="1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64748B"/>
                </a:solidFill>
                <a:latin typeface="Aptos"/>
                <a:cs typeface="Aptos"/>
              </a:rPr>
              <a:t>-&gt;</a:t>
            </a:r>
            <a:endParaRPr lang="vi-VN" sz="1500"/>
          </a:p>
        </p:txBody>
      </p:sp>
      <p:sp>
        <p:nvSpPr>
          <p:cNvPr id="19" name="Flow 8"/>
          <p:cNvSpPr txBox="1"/>
          <p:nvPr/>
        </p:nvSpPr>
        <p:spPr>
          <a:xfrm>
            <a:off x="9281160" y="4160520"/>
            <a:ext cx="2212848" cy="9875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Business users</a:t>
            </a:r>
            <a:endParaRPr lang="vi-VN" sz="1350"/>
          </a:p>
          <a:p>
            <a:pPr algn="l">
              <a:defRPr sz="13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350">
                <a:solidFill>
                  <a:srgbClr val="FFFFFF"/>
                </a:solidFill>
                <a:latin typeface="Aptos"/>
                <a:cs typeface="Aptos"/>
              </a:rPr>
              <a:t>ask, inspect, decide</a:t>
            </a:r>
            <a:endParaRPr lang="vi-VN" sz="1350"/>
          </a:p>
        </p:txBody>
      </p:sp>
      <p:sp>
        <p:nvSpPr>
          <p:cNvPr id="20" name="Flow note"/>
          <p:cNvSpPr txBox="1"/>
          <p:nvPr/>
        </p:nvSpPr>
        <p:spPr>
          <a:xfrm>
            <a:off x="685800" y="548640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280">
                <a:solidFill>
                  <a:srgbClr val="334155"/>
                </a:solidFill>
                <a:latin typeface="Aptos"/>
                <a:cs typeface="Aptos"/>
              </a:defRPr>
            </a:pPr>
            <a:r>
              <a:rPr lang="vi-VN" sz="1280">
                <a:solidFill>
                  <a:srgbClr val="334155"/>
                </a:solidFill>
                <a:latin typeface="Aptos"/>
                <a:cs typeface="Aptos"/>
              </a:rPr>
              <a:t>• CSV raw files -&gt; ETL/validation scripts -&gt; Supabase PostgreSQL.</a:t>
            </a:r>
            <a:endParaRPr lang="vi-VN" sz="1280"/>
          </a:p>
          <a:p>
            <a:pPr algn="l">
              <a:defRPr sz="1280">
                <a:solidFill>
                  <a:srgbClr val="334155"/>
                </a:solidFill>
                <a:latin typeface="Aptos"/>
                <a:cs typeface="Aptos"/>
              </a:defRPr>
            </a:pPr>
            <a:r>
              <a:rPr lang="vi-VN" sz="1280">
                <a:solidFill>
                  <a:srgbClr val="334155"/>
                </a:solidFill>
                <a:latin typeface="Aptos"/>
                <a:cs typeface="Aptos"/>
              </a:rPr>
              <a:t>• raw/staging/analytics/agent/audit schemas tách trách nhiệm rõ ràng.</a:t>
            </a:r>
            <a:endParaRPr lang="vi-VN" sz="1280"/>
          </a:p>
        </p:txBody>
      </p:sp>
      <p:sp>
        <p:nvSpPr>
          <p:cNvPr id="21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8</a:t>
            </a:r>
            <a:endParaRPr lang="vi-VN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DATA PLATFORM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Warehouse được thiết kế cho analytics và governance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raw: dữ liệu gần nguyên bản từ CSV, giữ row count source.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staging: chuẩn hóa type, date, numeric, null và status label.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analytics: dim/fact và marts như sales monthly, product performance, inventory risk.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agent: agent_registry, metric_catalog, sql_templates, question_examples, rag_embeddings.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audit: nền tảng để log ETL, data quality, copilot query và latency.</a:t>
            </a:r>
            <a:endParaRPr lang="vi-VN" sz="1680"/>
          </a:p>
        </p:txBody>
      </p:sp>
      <p:sp>
        <p:nvSpPr>
          <p:cNvPr id="6" name="Callout Fact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Fact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fact_sales, fact_inventory</a:t>
            </a:r>
            <a:endParaRPr lang="vi-VN" sz="1450"/>
          </a:p>
        </p:txBody>
      </p:sp>
      <p:sp>
        <p:nvSpPr>
          <p:cNvPr id="7" name="Callout Mart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Mart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Executive, Sales, Product, Inventory</a:t>
            </a:r>
            <a:endParaRPr lang="vi-VN" sz="1450"/>
          </a:p>
        </p:txBody>
      </p:sp>
      <p:sp>
        <p:nvSpPr>
          <p:cNvPr id="8" name="Callout Catalog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Catalog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Metric + template metadata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9</a:t>
            </a:r>
            <a:endParaRPr lang="vi-VN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API &amp; UI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FastAPI và Next.js tách bạch backend với trải nghiệm demo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FastAPI service layer riêng: /health, /metrics/* và /copilot/ask.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API không phụ thuộc Streamlit runtime; dễ test, deploy và reuse.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Next.js frontend có demo auth bằng signed HttpOnly cookie.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Server-side API calls giúp không expose service-role key ra browser.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Streamlit vẫn giữ vai trò local analytics workspace cho team data.</a:t>
            </a:r>
            <a:endParaRPr lang="vi-VN" sz="1680"/>
          </a:p>
        </p:txBody>
      </p:sp>
      <p:sp>
        <p:nvSpPr>
          <p:cNvPr id="6" name="Callout FastAPI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FastAPI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Metrics + Copilot contracts</a:t>
            </a:r>
            <a:endParaRPr lang="vi-VN" sz="1450"/>
          </a:p>
        </p:txBody>
      </p:sp>
      <p:sp>
        <p:nvSpPr>
          <p:cNvPr id="7" name="Callout Next.js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Next.js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Customer demo frontend</a:t>
            </a:r>
            <a:endParaRPr lang="vi-VN" sz="1450"/>
          </a:p>
        </p:txBody>
      </p:sp>
      <p:sp>
        <p:nvSpPr>
          <p:cNvPr id="8" name="Callout Streamlit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Streamlit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Internal analyst workspace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10</a:t>
            </a:r>
            <a:endParaRPr lang="vi-VN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AI GUARDRAILS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Governed AI: hỏi tự nhiên nhưng truy vấn có kiểm soát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Generated SQL chỉ được phép SELECT.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Allowlist schema/view: analytics.* và một số agent.* metadata read-only.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Mặc định có row limit, query timeout và warning khi empty/unsupported.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Không gửi toàn bộ raw data hoặc PII không cần thiết vào prompt LLM.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Nếu Gemini lỗi quota/service, fallback sang degraded response dựa trên template và catalog.</a:t>
            </a:r>
            <a:endParaRPr lang="vi-VN" sz="1680"/>
          </a:p>
        </p:txBody>
      </p:sp>
      <p:sp>
        <p:nvSpPr>
          <p:cNvPr id="6" name="Callout Safety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Safety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Read-only SQL</a:t>
            </a:r>
            <a:endParaRPr lang="vi-VN" sz="1450"/>
          </a:p>
        </p:txBody>
      </p:sp>
      <p:sp>
        <p:nvSpPr>
          <p:cNvPr id="7" name="Callout Scope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Scope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Approved marts only</a:t>
            </a:r>
            <a:endParaRPr lang="vi-VN" sz="1450"/>
          </a:p>
        </p:txBody>
      </p:sp>
      <p:sp>
        <p:nvSpPr>
          <p:cNvPr id="8" name="Callout Fallback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Fallback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No hallucinated KPI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11</a:t>
            </a:r>
            <a:endParaRPr lang="vi-VN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ĐỘ TIN CẬY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Demo có kiểm thử và backup path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Data quality report: 34/34 checks passed.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Python unit/API/agent tests: 33 passed.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Frontend typecheck và production build: PASS.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Playwright E2E smoke: 6 passed trên desktop Chromium và mobile Chrome profiles.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Mock FastAPI server giúp kiểm thử flow login, dashboard, sales filter và copilot khi offline Supabase.</a:t>
            </a:r>
            <a:endParaRPr lang="vi-VN" sz="1680"/>
          </a:p>
        </p:txBody>
      </p:sp>
      <p:sp>
        <p:nvSpPr>
          <p:cNvPr id="6" name="Callout DQ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DQ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34/34</a:t>
            </a:r>
            <a:endParaRPr lang="vi-VN" sz="1450"/>
          </a:p>
        </p:txBody>
      </p:sp>
      <p:sp>
        <p:nvSpPr>
          <p:cNvPr id="7" name="Callout Tests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Tests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33 pytest passed</a:t>
            </a:r>
            <a:endParaRPr lang="vi-VN" sz="1450"/>
          </a:p>
        </p:txBody>
      </p:sp>
      <p:sp>
        <p:nvSpPr>
          <p:cNvPr id="8" name="Callout E2E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E2E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6 Playwright passed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12</a:t>
            </a:r>
            <a:endParaRPr lang="vi-VN" sz="8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TRIỂN KHAI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Sẵn sàng mở rộng từ MVP sang pilot thực tế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Next.js có thể deploy lên Vercel; FastAPI chạy cùng Vercel hoặc container Render/Railway/Fly.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Supabase giữ vai trò cloud database/warehouse chính.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Auth demo có thể nâng lên Supabase Auth/RLS khi có người dùng thật.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Có thể thay CSV bằng POS/ERP connector, scheduled ETL và CI/CD.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Các phân tích tiếp theo: margin/profit, reorder alert, cohort retention, role-based dashboards.</a:t>
            </a:r>
            <a:endParaRPr lang="vi-VN" sz="1680"/>
          </a:p>
        </p:txBody>
      </p:sp>
      <p:sp>
        <p:nvSpPr>
          <p:cNvPr id="6" name="Callout MVP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MVP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Demo nhanh với dữ liệu hiện có</a:t>
            </a:r>
            <a:endParaRPr lang="vi-VN" sz="1450"/>
          </a:p>
        </p:txBody>
      </p:sp>
      <p:sp>
        <p:nvSpPr>
          <p:cNvPr id="7" name="Callout Pilot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Pilot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Kết nối dữ liệu thật</a:t>
            </a:r>
            <a:endParaRPr lang="vi-VN" sz="1450"/>
          </a:p>
        </p:txBody>
      </p:sp>
      <p:sp>
        <p:nvSpPr>
          <p:cNvPr id="8" name="Callout Scale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Scale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Auth, CI/CD, alerts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13</a:t>
            </a:r>
            <a:endParaRPr lang="vi-VN" sz="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CHỐT DEMO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Thông điệp chính cho khách hàng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Một nguồn KPI thống nhất cho business và data team.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Dashboard trả lời câu hỏi định kỳ; Copilot xử lý câu hỏi phát sinh bằng tiếng Việt.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Mỗi insight có source, metric definition và SQL để kiểm chứng.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Data quality, guardrails và E2E tests giúp demo đáng tin hơn một prototype thông thường.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MVP đã đủ để thảo luận pilot với dữ liệu thật của khách hàng.</a:t>
            </a:r>
            <a:endParaRPr lang="vi-VN" sz="1680"/>
          </a:p>
        </p:txBody>
      </p:sp>
      <p:sp>
        <p:nvSpPr>
          <p:cNvPr id="6" name="Callout See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See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Nhìn KPI</a:t>
            </a:r>
            <a:endParaRPr lang="vi-VN" sz="1450"/>
          </a:p>
        </p:txBody>
      </p:sp>
      <p:sp>
        <p:nvSpPr>
          <p:cNvPr id="7" name="Callout Ask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Ask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Hỏi tiếp</a:t>
            </a:r>
            <a:endParaRPr lang="vi-VN" sz="1450"/>
          </a:p>
        </p:txBody>
      </p:sp>
      <p:sp>
        <p:nvSpPr>
          <p:cNvPr id="8" name="Callout Trust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Trust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Kiểm chứng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14</a:t>
            </a:r>
            <a:endParaRPr lang="vi-VN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566928" y="29260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0F766E"/>
                </a:solidFill>
                <a:latin typeface="Aptos"/>
                <a:cs typeface="Aptos"/>
              </a:rPr>
              <a:t>APPENDIX</a:t>
            </a:r>
            <a:endParaRPr lang="vi-VN" sz="105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7909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2600" b="1">
                <a:solidFill>
                  <a:srgbClr val="0F172A"/>
                </a:solidFill>
                <a:latin typeface="Aptos"/>
                <a:cs typeface="Aptos"/>
              </a:rPr>
              <a:t>Backup commands cho người demo</a:t>
            </a:r>
            <a:endParaRPr lang="vi-VN" sz="2600"/>
          </a:p>
        </p:txBody>
      </p:sp>
      <p:sp>
        <p:nvSpPr>
          <p:cNvPr id="5" name="Bullets"/>
          <p:cNvSpPr txBox="1"/>
          <p:nvPr/>
        </p:nvSpPr>
        <p:spPr>
          <a:xfrm>
            <a:off x="640080" y="1572768"/>
            <a:ext cx="68122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API: python -m uvicorn api.app.main:app --host 127.0.0.1 --port 8000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Frontend: cd frontend; npm.cmd run dev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Health check: http://127.0.0.1:8000/health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Frontend URL: http://127.0.0.1:3000</a:t>
            </a:r>
            <a:endParaRPr lang="vi-VN" sz="1680"/>
          </a:p>
          <a:p>
            <a:pPr algn="l">
              <a:defRPr sz="1680">
                <a:solidFill>
                  <a:srgbClr val="1E293B"/>
                </a:solidFill>
                <a:latin typeface="Aptos"/>
                <a:cs typeface="Aptos"/>
              </a:defRPr>
            </a:pPr>
            <a:r>
              <a:rPr lang="vi-VN" sz="1680">
                <a:solidFill>
                  <a:srgbClr val="1E293B"/>
                </a:solidFill>
                <a:latin typeface="Aptos"/>
                <a:cs typeface="Aptos"/>
              </a:rPr>
              <a:t>• Offline smoke test: cd frontend; npm.cmd run test:e2e</a:t>
            </a:r>
            <a:endParaRPr lang="vi-VN" sz="1680"/>
          </a:p>
        </p:txBody>
      </p:sp>
      <p:sp>
        <p:nvSpPr>
          <p:cNvPr id="6" name="Callout API"/>
          <p:cNvSpPr txBox="1"/>
          <p:nvPr/>
        </p:nvSpPr>
        <p:spPr>
          <a:xfrm>
            <a:off x="7909560" y="148132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API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127.0.0.1:8000</a:t>
            </a:r>
            <a:endParaRPr lang="vi-VN" sz="1450"/>
          </a:p>
        </p:txBody>
      </p:sp>
      <p:sp>
        <p:nvSpPr>
          <p:cNvPr id="7" name="Callout UI"/>
          <p:cNvSpPr txBox="1"/>
          <p:nvPr/>
        </p:nvSpPr>
        <p:spPr>
          <a:xfrm>
            <a:off x="7909560" y="271576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UI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127.0.0.1:3000</a:t>
            </a:r>
            <a:endParaRPr lang="vi-VN" sz="1450"/>
          </a:p>
        </p:txBody>
      </p:sp>
      <p:sp>
        <p:nvSpPr>
          <p:cNvPr id="8" name="Callout Backup"/>
          <p:cNvSpPr txBox="1"/>
          <p:nvPr/>
        </p:nvSpPr>
        <p:spPr>
          <a:xfrm>
            <a:off x="7909560" y="3950208"/>
            <a:ext cx="36118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anchor="t" lIns="76200" tIns="76200" rIns="76200" bIns="76200">
            <a:spAutoFit/>
          </a:bodyPr>
          <a:lstStyle/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Backup</a:t>
            </a:r>
            <a:endParaRPr lang="vi-VN" sz="1450"/>
          </a:p>
          <a:p>
            <a:pPr algn="l">
              <a:defRPr sz="1450">
                <a:solidFill>
                  <a:srgbClr val="0F172A"/>
                </a:solidFill>
                <a:latin typeface="Aptos"/>
                <a:cs typeface="Aptos"/>
              </a:defRPr>
            </a:pPr>
            <a:r>
              <a:rPr lang="vi-VN" sz="1450">
                <a:solidFill>
                  <a:srgbClr val="0F172A"/>
                </a:solidFill>
                <a:latin typeface="Aptos"/>
                <a:cs typeface="Aptos"/>
              </a:rPr>
              <a:t>Mock API E2E</a:t>
            </a:r>
            <a:endParaRPr lang="vi-VN" sz="1450"/>
          </a:p>
        </p:txBody>
      </p:sp>
      <p:sp>
        <p:nvSpPr>
          <p:cNvPr id="9" name="Slide number"/>
          <p:cNvSpPr txBox="1"/>
          <p:nvPr/>
        </p:nvSpPr>
        <p:spPr>
          <a:xfrm>
            <a:off x="11018520" y="62910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4748B"/>
                </a:solidFill>
                <a:latin typeface="Aptos"/>
                <a:cs typeface="Aptos"/>
              </a:rPr>
              <a:t>15</a:t>
            </a:r>
            <a:endParaRPr lang="vi-VN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ke Store Theme">
  <a:themeElements>
    <a:clrScheme name="BikeStore">
      <a:dk1>
        <a:srgbClr val="0F172A"/>
      </a:dk1>
      <a:lt1>
        <a:srgbClr val="F8FAFC"/>
      </a:lt1>
      <a:dk2>
        <a:srgbClr val="134E4A"/>
      </a:dk2>
      <a:lt2>
        <a:srgbClr val="E2E8F0"/>
      </a:lt2>
      <a:accent1>
        <a:srgbClr val="0F766E"/>
      </a:accent1>
      <a:accent2>
        <a:srgbClr val="2563EB"/>
      </a:accent2>
      <a:accent3>
        <a:srgbClr val="F97316"/>
      </a:accent3>
      <a:accent4>
        <a:srgbClr val="7C3AED"/>
      </a:accent4>
      <a:accent5>
        <a:srgbClr val="22C55E"/>
      </a:accent5>
      <a:accent6>
        <a:srgbClr val="38BDF8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BikeStor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  <a:satMod val="120000"/>
              </a:schemeClr>
            </a:gs>
          </a:gsLst>
          <a:lin ang="5400000" scaled="0"/>
        </a:gradFill>
        <a:solidFill>
          <a:schemeClr val="phClr">
            <a:alpha val="5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Deck Generator</Application>
  <PresentationFormat>On-screen Show (16:9)</PresentationFormat>
  <Slides>15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15</vt:i4>
      </vt:variant>
    </vt:vector>
  </HeadingPairs>
  <TitlesOfParts>
    <vt:vector size="15" baseType="lpstr">
      <vt:lpstr>Bike Store Analytics Copilot</vt:lpstr>
      <vt:lpstr>Khách hàng cần ra quyết định nhanh từ dữ liệu bán lẻ</vt:lpstr>
      <vt:lpstr>Một màn hình cho điều hành, nhiều góc nhìn cho vận hành</vt:lpstr>
      <vt:lpstr>Baseline KPI dùng được để demo và đối chiếu</vt:lpstr>
      <vt:lpstr>Bao phủ các câu hỏi vận hành chính của Bike Store</vt:lpstr>
      <vt:lpstr>Kịch bản demo trong 8-10 phút</vt:lpstr>
      <vt:lpstr>Copilot không chỉ là chat: mỗi câu trả lời có nguồn kiểm chứng</vt:lpstr>
      <vt:lpstr>End-to-end architecture</vt:lpstr>
      <vt:lpstr>Warehouse được thiết kế cho analytics và governance</vt:lpstr>
      <vt:lpstr>FastAPI và Next.js tách bạch backend với trải nghiệm demo</vt:lpstr>
      <vt:lpstr>Governed AI: hỏi tự nhiên nhưng truy vấn có kiểm soát</vt:lpstr>
      <vt:lpstr>Demo có kiểm thử và backup path</vt:lpstr>
      <vt:lpstr>Sẵn sàng mở rộng từ MVP sang pilot thực tế</vt:lpstr>
      <vt:lpstr>Thông điệp chính cho khách hàng</vt:lpstr>
      <vt:lpstr>Backup commands cho người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Store Customer Demo Deck</dc:title>
  <dc:subject>Business and technical demo slides for Bike Store Analytics Copilot</dc:subject>
  <dc:creator>Codex</dc:creator>
  <cp:lastModifiedBy>Codex</cp:lastModifiedBy>
  <dcterms:created xsi:type="dcterms:W3CDTF">2026-07-21T14:41:39Z</dcterms:created>
  <dcterms:modified xsi:type="dcterms:W3CDTF">2026-07-21T14:41:39Z</dcterms:modified>
</cp:coreProperties>
</file>